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6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48" autoAdjust="0"/>
  </p:normalViewPr>
  <p:slideViewPr>
    <p:cSldViewPr snapToGrid="0">
      <p:cViewPr varScale="1">
        <p:scale>
          <a:sx n="83" d="100"/>
          <a:sy n="83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2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D9C4667-D0EB-4182-A979-F1BD41F3D31E}" type="datetime1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2E72FE-6225-48DC-96F7-A6D4A27B79B8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A5E3DB2-6224-4F87-96B2-901B51FC324F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1335E-9FC5-4332-89A1-F61C26AF68B8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9742827-D144-4B2C-B4EF-283D1A1D2ABE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134D18-76F3-4340-B8E3-CE0608B72693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B1DAD5-1ADC-4BAD-A5A2-B644A9983A58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4B273F-9A6A-422D-A6AB-3990B7538E9C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026E7C-B2F6-41BB-9643-AACFC392E830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2B0968A-0AED-4FB8-B40B-FB67848094BA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1F5BCB-5907-4BE5-BDA8-E10478C468F1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724630-BB87-4AF9-A3EB-1FC0B7D5A0A2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ED2A334-CAC3-41D9-9F20-8680444032ED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2E8C287-D018-43BB-961A-194062A1E79C}" type="datetime1">
              <a:rPr lang="ru-RU" smtClean="0"/>
              <a:pPr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57F1E4F-1CFF-5643-939E-217C01CDF56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85D907C-A6B2-525B-AECE-0DEF0CD844F5}"/>
              </a:ext>
            </a:extLst>
          </p:cNvPr>
          <p:cNvSpPr/>
          <p:nvPr/>
        </p:nvSpPr>
        <p:spPr>
          <a:xfrm>
            <a:off x="448732" y="3983932"/>
            <a:ext cx="11260667" cy="240663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71" y="4571990"/>
            <a:ext cx="10993549" cy="1037502"/>
          </a:xfrm>
        </p:spPr>
        <p:txBody>
          <a:bodyPr rtlCol="0">
            <a:no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Разработка </a:t>
            </a:r>
            <a:r>
              <a:rPr lang="ru-RU" sz="3200" dirty="0" err="1">
                <a:solidFill>
                  <a:schemeClr val="bg1"/>
                </a:solidFill>
              </a:rPr>
              <a:t>свёрточной</a:t>
            </a:r>
            <a:r>
              <a:rPr lang="ru-RU" sz="3200" dirty="0">
                <a:solidFill>
                  <a:schemeClr val="bg1"/>
                </a:solidFill>
              </a:rPr>
              <a:t> нейронной сети на базе </a:t>
            </a:r>
            <a:r>
              <a:rPr lang="ru-RU" sz="3200" dirty="0" err="1">
                <a:solidFill>
                  <a:schemeClr val="bg1"/>
                </a:solidFill>
              </a:rPr>
              <a:t>фреймворка</a:t>
            </a:r>
            <a:r>
              <a:rPr lang="ru-RU" sz="3200" dirty="0">
                <a:solidFill>
                  <a:schemeClr val="bg1"/>
                </a:solidFill>
              </a:rPr>
              <a:t> </a:t>
            </a:r>
            <a:r>
              <a:rPr lang="ru-RU" sz="3200" dirty="0" err="1">
                <a:solidFill>
                  <a:schemeClr val="bg1"/>
                </a:solidFill>
              </a:rPr>
              <a:t>TensorFlow</a:t>
            </a:r>
            <a:r>
              <a:rPr lang="ru-RU" sz="3200" dirty="0">
                <a:solidFill>
                  <a:schemeClr val="bg1"/>
                </a:solidFill>
              </a:rPr>
              <a:t> </a:t>
            </a:r>
            <a:r>
              <a:rPr lang="ru-RU" sz="3200" dirty="0" err="1">
                <a:solidFill>
                  <a:schemeClr val="bg1"/>
                </a:solidFill>
              </a:rPr>
              <a:t>Python</a:t>
            </a:r>
            <a:r>
              <a:rPr lang="ru-RU" sz="3200" dirty="0">
                <a:solidFill>
                  <a:schemeClr val="bg1"/>
                </a:solidFill>
              </a:rPr>
              <a:t> для автоматического распознавания объектов на спутниковых </a:t>
            </a:r>
            <a:r>
              <a:rPr lang="ru-RU" sz="3200" dirty="0" smtClean="0">
                <a:solidFill>
                  <a:schemeClr val="bg1"/>
                </a:solidFill>
              </a:rPr>
              <a:t>снимках</a:t>
            </a:r>
            <a:endParaRPr lang="ru-RU" sz="6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74" y="5609492"/>
            <a:ext cx="10993546" cy="484822"/>
          </a:xfrm>
        </p:spPr>
        <p:txBody>
          <a:bodyPr rtlCol="0">
            <a:normAutofit/>
          </a:bodyPr>
          <a:lstStyle/>
          <a:p>
            <a:r>
              <a:rPr lang="ru-RU" sz="1400" dirty="0" smtClean="0">
                <a:solidFill>
                  <a:srgbClr val="7CEBFF"/>
                </a:solidFill>
              </a:rPr>
              <a:t>выполнили: Байрамова </a:t>
            </a:r>
            <a:r>
              <a:rPr lang="ru-RU" sz="1400" dirty="0" err="1" smtClean="0">
                <a:solidFill>
                  <a:srgbClr val="7CEBFF"/>
                </a:solidFill>
              </a:rPr>
              <a:t>фидан</a:t>
            </a:r>
            <a:r>
              <a:rPr lang="ru-RU" sz="1400" dirty="0" smtClean="0">
                <a:solidFill>
                  <a:srgbClr val="7CEBFF"/>
                </a:solidFill>
              </a:rPr>
              <a:t>, </a:t>
            </a:r>
            <a:r>
              <a:rPr lang="ru-RU" sz="1400" dirty="0" err="1" smtClean="0">
                <a:solidFill>
                  <a:srgbClr val="7CEBFF"/>
                </a:solidFill>
              </a:rPr>
              <a:t>Чудинова</a:t>
            </a:r>
            <a:r>
              <a:rPr lang="ru-RU" sz="1400" dirty="0" smtClean="0">
                <a:solidFill>
                  <a:srgbClr val="7CEBFF"/>
                </a:solidFill>
              </a:rPr>
              <a:t> </a:t>
            </a:r>
            <a:r>
              <a:rPr lang="ru-RU" sz="1400" dirty="0" err="1" smtClean="0">
                <a:solidFill>
                  <a:srgbClr val="7CEBFF"/>
                </a:solidFill>
              </a:rPr>
              <a:t>валерия</a:t>
            </a:r>
            <a:endParaRPr lang="ru-RU" sz="1400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5AA71-9FBC-FF8F-5AF9-304D6832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63" y="451823"/>
            <a:ext cx="11296967" cy="1350599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ru-RU" sz="4400" dirty="0" smtClean="0"/>
              <a:t> наша Цель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91518F-E1F4-C0CE-9C38-B520398260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9894" y="2343931"/>
            <a:ext cx="651834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</a:rPr>
              <a:t>Разработать и реализовать </a:t>
            </a:r>
            <a:r>
              <a:rPr lang="ru-RU" altLang="ru-RU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свёрточную</a:t>
            </a: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</a:rPr>
              <a:t> нейронную сеть на </a:t>
            </a:r>
            <a:r>
              <a:rPr lang="ru-RU" altLang="ru-RU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фреймворке</a:t>
            </a: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TensorFlow</a:t>
            </a: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Python</a:t>
            </a: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</a:rPr>
              <a:t>, предназначенную для автоматического и высокоточного распознавания различных объектов на спутниковых снимках, тем самым обеспечив эффективный инструмент для </a:t>
            </a:r>
            <a:r>
              <a:rPr lang="ru-RU" altLang="ru-RU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анализа.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В исследованиях использовались </a:t>
            </a:r>
            <a:r>
              <a:rPr lang="en-US" altLang="ru-RU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Google </a:t>
            </a:r>
            <a:r>
              <a:rPr lang="en-US" altLang="ru-RU" sz="24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Colab</a:t>
            </a:r>
            <a:r>
              <a:rPr lang="en-US" altLang="ru-RU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, Perplexity</a:t>
            </a:r>
            <a:endParaRPr lang="ru-RU" altLang="ru-RU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33" name="Picture 9">
            <a:extLst>
              <a:ext uri="{FF2B5EF4-FFF2-40B4-BE49-F238E27FC236}">
                <a16:creationId xmlns:a16="http://schemas.microsoft.com/office/drawing/2014/main" id="{C6BD443A-DC27-A0B7-855B-97CB85A5C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700" y="4583372"/>
            <a:ext cx="3193300" cy="145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24009" t="15572" r="14071" b="20214"/>
          <a:stretch/>
        </p:blipFill>
        <p:spPr>
          <a:xfrm>
            <a:off x="10032023" y="2743200"/>
            <a:ext cx="949569" cy="112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40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36DC2-C82A-5F17-176A-8C32279CB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15" y="606669"/>
            <a:ext cx="11306007" cy="1186961"/>
          </a:xfrm>
        </p:spPr>
        <p:txBody>
          <a:bodyPr>
            <a:normAutofit/>
          </a:bodyPr>
          <a:lstStyle/>
          <a:p>
            <a:r>
              <a:rPr lang="ru-RU" sz="4000" dirty="0"/>
              <a:t>Описание набора данных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83BF22-960B-9250-E0BC-94AFC5C986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1942157"/>
            <a:ext cx="677714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Название: СОС-v1.0 (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Satellite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Recognition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Объём: Более 7500 высокоразрешающих спутниковых снимков.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Аннотации: Детально размечены </a:t>
            </a:r>
            <a:r>
              <a:rPr lang="ru-RU" altLang="ru-RU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категорий объектов (здания, дороги, водоёмы, транспортные средства и др.) с помощью ограничивающих рамок и масок сегментации.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Назначение: Обучение,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валидация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тестирование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свёрточной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нейронной сети.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22003"/>
          <a:stretch/>
        </p:blipFill>
        <p:spPr>
          <a:xfrm>
            <a:off x="7429501" y="1793630"/>
            <a:ext cx="4317021" cy="439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76ACE-D688-6854-1FFE-F47BB1A4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Применяемые алгоритмы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84AA50-348F-1530-90F5-A9C0AF95BF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742374"/>
            <a:ext cx="854555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•  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Основа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ru-RU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Свёрточные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 нейронные сети (CNN).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•  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Задачи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: Обнаружение (</a:t>
            </a:r>
            <a:r>
              <a:rPr lang="ru-RU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Detection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) и Классификация (</a:t>
            </a:r>
            <a:r>
              <a:rPr lang="ru-RU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Classification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) объектов.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• 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 Архитектуры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: Адаптация современных детекторов </a:t>
            </a:r>
            <a:r>
              <a:rPr lang="ru-RU" altLang="ru-RU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объектов</a:t>
            </a:r>
            <a:endParaRPr lang="ru-RU" altLang="ru-RU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ru-RU" altLang="ru-RU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	•  </a:t>
            </a:r>
            <a:r>
              <a:rPr lang="ru-RU" altLang="ru-RU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Faster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 R-CNN / </a:t>
            </a:r>
            <a:r>
              <a:rPr lang="ru-RU" altLang="ru-RU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Mask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 R-CNN 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– для высокой точности </a:t>
            </a:r>
            <a:r>
              <a:rPr lang="ru-RU" altLang="ru-RU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		(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возможно, с сегментацией).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	•  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Обучение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: Применяется </a:t>
            </a:r>
            <a:r>
              <a:rPr lang="ru-RU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трансферное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 обучение и </a:t>
            </a:r>
            <a:r>
              <a:rPr lang="ru-RU" altLang="ru-RU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	оптимизаторы </a:t>
            </a:r>
            <a:r>
              <a:rPr lang="ru-RU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Adam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/SGD.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73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A831D-90B2-9597-10DA-0BCE201D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Этапы реализации в коде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83E694-D59E-20D4-7D84-89D7FB250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• 1. Подготовка данных: Загрузка, предобработка и аугментация размеченных спутниковых снимков (СОС-v1.0).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dirty="0"/>
              <a:t>• 2. Разработка архитектуры </a:t>
            </a:r>
            <a:r>
              <a:rPr lang="ru-RU" dirty="0" err="1" smtClean="0"/>
              <a:t>CNN:Реализация</a:t>
            </a:r>
            <a:r>
              <a:rPr lang="ru-RU" dirty="0" smtClean="0"/>
              <a:t> </a:t>
            </a:r>
            <a:r>
              <a:rPr lang="ru-RU" dirty="0"/>
              <a:t>модели </a:t>
            </a:r>
            <a:r>
              <a:rPr lang="ru-RU" dirty="0" err="1"/>
              <a:t>детекции</a:t>
            </a:r>
            <a:r>
              <a:rPr lang="ru-RU" dirty="0"/>
              <a:t> объектов (например, YOLO или </a:t>
            </a:r>
            <a:r>
              <a:rPr lang="ru-RU" dirty="0" err="1"/>
              <a:t>Faster</a:t>
            </a:r>
            <a:r>
              <a:rPr lang="ru-RU" dirty="0"/>
              <a:t> R-CNN) на </a:t>
            </a:r>
            <a:r>
              <a:rPr lang="ru-RU" dirty="0" err="1"/>
              <a:t>TensorFlow</a:t>
            </a:r>
            <a:r>
              <a:rPr lang="ru-RU" dirty="0"/>
              <a:t>.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dirty="0"/>
              <a:t>• 3. Обучение модели: Тренировка CNN на обучающей выборке с использованием </a:t>
            </a:r>
            <a:r>
              <a:rPr lang="ru-RU" dirty="0" err="1"/>
              <a:t>трансферного</a:t>
            </a:r>
            <a:r>
              <a:rPr lang="ru-RU" dirty="0"/>
              <a:t> обучения и оптимизаторов.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dirty="0"/>
              <a:t>• 4. Оценка и </a:t>
            </a:r>
            <a:r>
              <a:rPr lang="ru-RU" dirty="0" err="1"/>
              <a:t>валидация</a:t>
            </a:r>
            <a:r>
              <a:rPr lang="ru-RU" dirty="0"/>
              <a:t>: Анализ производительности и точности модели на </a:t>
            </a:r>
            <a:r>
              <a:rPr lang="ru-RU" dirty="0" err="1"/>
              <a:t>валидационной</a:t>
            </a:r>
            <a:r>
              <a:rPr lang="ru-RU" dirty="0"/>
              <a:t> и тестовой выборках.</a:t>
            </a:r>
            <a:endParaRPr lang="ru-RU" sz="3000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66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47839-7762-7340-3E7A-58005FE96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Результаты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E01761-9735-0CE9-0F5D-A11E59D3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400158" cy="3678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u="sng" dirty="0"/>
              <a:t>Ключевые достижения</a:t>
            </a:r>
            <a:r>
              <a:rPr lang="ru-RU" sz="1600" u="sng" dirty="0" smtClean="0"/>
              <a:t>:</a:t>
            </a:r>
            <a:endParaRPr lang="ru-RU" sz="1600" u="sng" dirty="0"/>
          </a:p>
          <a:p>
            <a:pPr marL="0" indent="0">
              <a:buNone/>
            </a:pPr>
            <a:r>
              <a:rPr lang="ru-RU" sz="1600" dirty="0"/>
              <a:t>•  Обучение модели: Успешно разработана и обучена </a:t>
            </a:r>
            <a:r>
              <a:rPr lang="ru-RU" sz="1600" dirty="0" err="1"/>
              <a:t>сверточная</a:t>
            </a:r>
            <a:r>
              <a:rPr lang="ru-RU" sz="1600" dirty="0"/>
              <a:t> нейронная сеть на </a:t>
            </a:r>
            <a:r>
              <a:rPr lang="ru-RU" sz="1600" dirty="0" err="1"/>
              <a:t>TensorFlow</a:t>
            </a:r>
            <a:r>
              <a:rPr lang="ru-RU" sz="1600" dirty="0"/>
              <a:t>, демонстрирующая высокую способность к обобщению на новых данных.</a:t>
            </a:r>
          </a:p>
          <a:p>
            <a:pPr marL="0" indent="0">
              <a:buNone/>
            </a:pPr>
            <a:r>
              <a:rPr lang="ru-RU" sz="1600" dirty="0"/>
              <a:t>•  Эффективность распознавания: Модель эффективно распознает целевые объекты (например, здания, дороги, водоемы) на спутниковых снимках</a:t>
            </a:r>
            <a:r>
              <a:rPr lang="ru-RU" sz="1600" dirty="0" smtClean="0"/>
              <a:t>.</a:t>
            </a:r>
            <a:endParaRPr lang="ru-RU" sz="1600" dirty="0"/>
          </a:p>
          <a:p>
            <a:pPr marL="0" indent="0">
              <a:buNone/>
            </a:pPr>
            <a:r>
              <a:rPr lang="ru-RU" sz="1600" u="sng" dirty="0"/>
              <a:t>Метрики производительности</a:t>
            </a:r>
            <a:r>
              <a:rPr lang="ru-RU" sz="1600" dirty="0" smtClean="0"/>
              <a:t>: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•  Точность (</a:t>
            </a:r>
            <a:r>
              <a:rPr lang="ru-RU" sz="1600" dirty="0" err="1" smtClean="0"/>
              <a:t>Accuracy</a:t>
            </a:r>
            <a:r>
              <a:rPr lang="ru-RU" sz="1600" dirty="0" smtClean="0"/>
              <a:t>)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•  Функция потерь (</a:t>
            </a:r>
            <a:r>
              <a:rPr lang="ru-RU" sz="1600" dirty="0" err="1" smtClean="0"/>
              <a:t>Loss</a:t>
            </a:r>
            <a:r>
              <a:rPr lang="ru-RU" sz="1600" dirty="0" smtClean="0"/>
              <a:t>)</a:t>
            </a:r>
            <a:endParaRPr lang="ru-RU" sz="1600" dirty="0"/>
          </a:p>
        </p:txBody>
      </p:sp>
      <p:pic>
        <p:nvPicPr>
          <p:cNvPr id="5" name="Рисунок 4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7007DF-9E11-3DBF-61D9-5FDE1CCB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479" y="3752703"/>
            <a:ext cx="6378430" cy="245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8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C4473-4A7A-1161-F5A6-BDD3583A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Заключение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91041F-C68E-4308-B4D7-A9F6EFCFF4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4815" y="2093193"/>
            <a:ext cx="894237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</a:rPr>
              <a:t>В заключение, разработанная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свёрточная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</a:rPr>
              <a:t> нейронная сеть на базе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TensorFlow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</a:rPr>
              <a:t> продемонстрировала высокую эффективность в автоматическом распознавании объектов на спутниковых снимках. Полученные результаты подтверждают потенциал использования глубокого обучения для анализа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геопространственных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</a:rPr>
              <a:t> данных, что открывает новые возможности в различных областях, таких как экология, сельское хозяйство и городское планирование. Дальнейшие исследования могут сосредоточиться на улучшении точности и скорости обработки данных.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21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ользовательские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203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Техническое оформление</Template>
  <TotalTime>102</TotalTime>
  <Words>298</Words>
  <Application>Microsoft Office PowerPoint</Application>
  <PresentationFormat>Широкоэкранный</PresentationFormat>
  <Paragraphs>28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Corbel</vt:lpstr>
      <vt:lpstr>Wingdings 2</vt:lpstr>
      <vt:lpstr>Пользовательские</vt:lpstr>
      <vt:lpstr>Разработка свёрточной нейронной сети на базе фреймворка TensorFlow Python для автоматического распознавания объектов на спутниковых снимках</vt:lpstr>
      <vt:lpstr> наша Цель </vt:lpstr>
      <vt:lpstr>Описание набора данных</vt:lpstr>
      <vt:lpstr>Применяемые алгоритмы</vt:lpstr>
      <vt:lpstr>Этапы реализации в коде</vt:lpstr>
      <vt:lpstr>Результаты реализации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свёрточной нейронной сети на базе фреймворка TensorFlow Python для автоматического распознавания объектов на спутниковых снимках</dc:title>
  <dc:creator>Игорь Филиппов</dc:creator>
  <cp:lastModifiedBy>user</cp:lastModifiedBy>
  <cp:revision>7</cp:revision>
  <dcterms:created xsi:type="dcterms:W3CDTF">2025-12-19T07:07:57Z</dcterms:created>
  <dcterms:modified xsi:type="dcterms:W3CDTF">2025-12-26T12:12:50Z</dcterms:modified>
</cp:coreProperties>
</file>